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09AE-9C41-D3BD-2297-DCC554FA9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82BFB-7666-703C-AA9F-E9322052F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D3DF4-3420-DA17-C759-ED2F6AE0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7A4D1-AD01-07E4-05DC-75A6ACDA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58956-7F8F-7044-BC45-C566F37B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8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449C-78FB-38D2-67A6-D4978C87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2D436-6AA5-8968-9649-B747A17EB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DB8E-27CC-0B15-FEF4-77F2DC5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EC873-74F0-CF20-85DB-129F135EA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4334-1D76-0261-ED7C-DD84060F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9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1090-B478-8FB4-2DAF-C2379851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7D613-AD43-0FF8-E74E-07FD863FB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A490C-3C34-9FAE-FF31-0F11F7BA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3D272-AE1B-BC74-FB33-6A86EA17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9240-44C5-30F5-BE64-D44434DD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6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BA6F-546B-DACF-1450-8C046BB9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0E8D-F578-500E-D4D1-C06DC34C2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AB35A-D7FD-EAAE-FCEF-3B49529B0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8C3FB-9F36-6388-4C83-936D5979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71521-DBBA-B29F-ED33-9B6070D7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C20F5-BB59-65C5-5E3F-7805B75D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2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AFE2-7DD4-1FCF-6241-C85C946C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0A066-DF5E-9752-B8B3-42954FACE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93526-1DD5-442C-E923-B744E75C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72AF7-6CF3-0F26-068D-F3ABE9E17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8DACE-4150-D43B-26ED-48AF7F523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08F5E-CBD4-2130-0082-308CD3C4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30B32-E6A8-E053-2707-6CD5DB604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2975B-9380-7E13-AEC6-DE0B710F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64BF-3C63-3077-2FF6-E0F27C97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114D3-D42D-1075-8B49-E1D1609E6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9BB41-75C9-16B1-A37A-C6E5065A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C041D-60EC-CBDC-BB97-78D91980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1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3726B-0E2F-50EA-A5BC-0D663583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41F6C-BE9E-162F-190C-4005F3B6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88C4C-422F-80E7-4A70-1529D559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2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0960-92C2-00D8-750E-FAD9C504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00111-331F-E980-D516-84DA3119D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C8564-C168-1B1D-C194-0D79FF126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95D79-9929-63E6-BFF9-16188030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C9E7D-2BCD-4AD2-79B6-4DADD9BA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B6E69-09B4-02DA-1613-6AF37D10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5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E9C1-37CC-43E2-7641-7DDAD64B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32F94-271B-4388-1199-A2A3A25F6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71F12-65AA-BA0C-DC1B-EB9CB8CA1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AC92-476C-D2FA-B084-7FBC144C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D3546-680A-B9B4-C8E9-4767D66D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61285-DD3E-662C-010B-EEE9BA0E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8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B051-3835-2FDA-5255-F19C60FEB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BA401-7A50-B85D-339D-B6F751E87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2FE1E-F975-C467-0889-322E4EA2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B1B6-9ED6-F0C0-D324-87812121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DE99F-0771-CB1A-DD75-2D6E41B0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1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C6520-86D7-B7BA-AE6D-4F7838B8D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20724-EBEF-32B3-84E1-4D28DD501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8FE32-7BE3-B2C3-382A-9A6CF072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82F21-3FE8-D8D5-EC7A-BF54A2F4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DBFC-C3EA-B8E2-B6AB-48BE45BA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2E2ED-771E-5A95-AFAF-3F7A5678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42D9B-607E-D277-2B2A-02E6959DD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6A60D-C23F-25EF-81D3-4A07DA23B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D33760-C6B2-435E-8EE0-B6C1685640C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93070-ABBD-D7CB-46E2-DFB489AF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E4A74-A772-6B51-BE57-ED0DAB815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BC390-A1EA-43D6-A074-A8615E728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E9A7-93A7-0B40-DD26-9261CB1177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Apple Stock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4C9CA-5DA8-2099-ECA1-A1D8B116C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Almon Steven Bate</a:t>
            </a:r>
          </a:p>
        </p:txBody>
      </p:sp>
    </p:spTree>
    <p:extLst>
      <p:ext uri="{BB962C8B-B14F-4D97-AF65-F5344CB8AC3E}">
        <p14:creationId xmlns:p14="http://schemas.microsoft.com/office/powerpoint/2010/main" val="121232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C586-C21A-CC63-67F6-7953CF86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AB10-A597-031C-68C6-0131E2CE6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Predicting the stock market is one of the most lucrative and challenging projects in the world.</a:t>
            </a:r>
          </a:p>
          <a:p>
            <a:pPr lvl="1"/>
            <a:r>
              <a:rPr lang="en-US" dirty="0"/>
              <a:t>It is so challenging because it isn’t just about finding a pattern in data, it is a study of human behavior and how we react to new events.</a:t>
            </a:r>
          </a:p>
          <a:p>
            <a:pPr lvl="1"/>
            <a:r>
              <a:rPr lang="en-US" dirty="0"/>
              <a:t>If done so accurately though you would stand to make a lot of money.</a:t>
            </a:r>
          </a:p>
          <a:p>
            <a:r>
              <a:rPr lang="en-US" dirty="0"/>
              <a:t>As such this project will focus on predicting the high price for Apples Stock.</a:t>
            </a:r>
          </a:p>
        </p:txBody>
      </p:sp>
    </p:spTree>
    <p:extLst>
      <p:ext uri="{BB962C8B-B14F-4D97-AF65-F5344CB8AC3E}">
        <p14:creationId xmlns:p14="http://schemas.microsoft.com/office/powerpoint/2010/main" val="429176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3603-B405-A286-4064-70C73342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FE3B-C017-70F3-A05A-FD64E8B1B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was gathered from Alpaca.</a:t>
            </a:r>
          </a:p>
          <a:p>
            <a:pPr lvl="1"/>
            <a:r>
              <a:rPr lang="en-US" dirty="0"/>
              <a:t>Data included stock history data.</a:t>
            </a:r>
          </a:p>
          <a:p>
            <a:pPr lvl="1"/>
            <a:r>
              <a:rPr lang="en-US" dirty="0"/>
              <a:t>News articles from Benzinga.</a:t>
            </a:r>
          </a:p>
          <a:p>
            <a:r>
              <a:rPr lang="en-US" dirty="0"/>
              <a:t>All data is then cleaned in python and joined together.</a:t>
            </a:r>
          </a:p>
          <a:p>
            <a:r>
              <a:rPr lang="en-US" dirty="0"/>
              <a:t>News articles have sentiment analysis performed on them to see if they were positive or negative.</a:t>
            </a:r>
          </a:p>
          <a:p>
            <a:r>
              <a:rPr lang="en-US" dirty="0"/>
              <a:t>All data is then split, using the first 80% of data as training and the last 20% as testing.</a:t>
            </a:r>
          </a:p>
          <a:p>
            <a:r>
              <a:rPr lang="en-US" dirty="0"/>
              <a:t>We then use these as features for more ML models.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67BE5A-AAFD-F75C-8D6C-A5778E574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827"/>
            <a:ext cx="5964994" cy="280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2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BD9F-A0E0-8A60-EC34-AF7CDAED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7C71F-CE83-987F-1626-40FDB599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when it came in was a time series, high for day = X, low for day = Y.</a:t>
            </a:r>
          </a:p>
          <a:p>
            <a:r>
              <a:rPr lang="en-US" dirty="0"/>
              <a:t>I then took this data and created several lag features.</a:t>
            </a:r>
          </a:p>
          <a:p>
            <a:r>
              <a:rPr lang="en-US" dirty="0"/>
              <a:t>All news was taken for each corresponding day in my data set, using a </a:t>
            </a:r>
            <a:r>
              <a:rPr lang="en-US" dirty="0" err="1"/>
              <a:t>Textblob</a:t>
            </a:r>
            <a:r>
              <a:rPr lang="en-US" dirty="0"/>
              <a:t> I performed a sentiment analysis on it.</a:t>
            </a:r>
          </a:p>
          <a:p>
            <a:pPr lvl="1"/>
            <a:r>
              <a:rPr lang="en-US" dirty="0"/>
              <a:t>This then made a number -1 – 1. This number was how positive or negative the news article was towards Apple on that given day.</a:t>
            </a:r>
          </a:p>
        </p:txBody>
      </p:sp>
    </p:spTree>
    <p:extLst>
      <p:ext uri="{BB962C8B-B14F-4D97-AF65-F5344CB8AC3E}">
        <p14:creationId xmlns:p14="http://schemas.microsoft.com/office/powerpoint/2010/main" val="412496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901-9DB6-5467-0E30-8E7B87C7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4" name="Content Placeholder 3" descr="Figure 1">
            <a:extLst>
              <a:ext uri="{FF2B5EF4-FFF2-40B4-BE49-F238E27FC236}">
                <a16:creationId xmlns:a16="http://schemas.microsoft.com/office/drawing/2014/main" id="{4A1A2C55-A4CD-C902-E0BB-D83D9C464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62" y="1330325"/>
            <a:ext cx="5123913" cy="3297389"/>
          </a:xfrm>
          <a:prstGeom prst="rect">
            <a:avLst/>
          </a:prstGeom>
        </p:spPr>
      </p:pic>
      <p:pic>
        <p:nvPicPr>
          <p:cNvPr id="5" name="Picture 4" descr="A graph of a distribution of daily returns&#10;&#10;AI-generated content may be incorrect.">
            <a:extLst>
              <a:ext uri="{FF2B5EF4-FFF2-40B4-BE49-F238E27FC236}">
                <a16:creationId xmlns:a16="http://schemas.microsoft.com/office/drawing/2014/main" id="{F38738F0-5328-6310-726D-B6D879BF0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063" y="1027906"/>
            <a:ext cx="4372512" cy="3870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D05E79-7B33-DE43-93B0-515B295A1969}"/>
              </a:ext>
            </a:extLst>
          </p:cNvPr>
          <p:cNvSpPr txBox="1"/>
          <p:nvPr/>
        </p:nvSpPr>
        <p:spPr>
          <a:xfrm>
            <a:off x="1025612" y="4898318"/>
            <a:ext cx="355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 has low volatility day to day.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2A8AE-3648-B543-F650-1FEA1D515B68}"/>
              </a:ext>
            </a:extLst>
          </p:cNvPr>
          <p:cNvSpPr txBox="1"/>
          <p:nvPr/>
        </p:nvSpPr>
        <p:spPr>
          <a:xfrm>
            <a:off x="7708540" y="4960934"/>
            <a:ext cx="4131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Its daily return shows an almost perfect normal form graph meaning that it is generally stable, as hopefully predictable.</a:t>
            </a:r>
          </a:p>
        </p:txBody>
      </p:sp>
    </p:spTree>
    <p:extLst>
      <p:ext uri="{BB962C8B-B14F-4D97-AF65-F5344CB8AC3E}">
        <p14:creationId xmlns:p14="http://schemas.microsoft.com/office/powerpoint/2010/main" val="5156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F812-2D6E-616B-E107-65E61D68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pic>
        <p:nvPicPr>
          <p:cNvPr id="4" name="Content Placeholder 3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7F53915B-BF5A-142C-7A9C-DE720FAFA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5" y="1690688"/>
            <a:ext cx="729402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6AA609-5F7E-3A6C-D1C9-62136C3D79EA}"/>
              </a:ext>
            </a:extLst>
          </p:cNvPr>
          <p:cNvSpPr txBox="1"/>
          <p:nvPr/>
        </p:nvSpPr>
        <p:spPr>
          <a:xfrm>
            <a:off x="9182100" y="2867025"/>
            <a:ext cx="2647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sentiment analysis yielded mixed results, visually I couldn’t find much correlation with any ups or downs with Apple.</a:t>
            </a:r>
          </a:p>
        </p:txBody>
      </p:sp>
    </p:spTree>
    <p:extLst>
      <p:ext uri="{BB962C8B-B14F-4D97-AF65-F5344CB8AC3E}">
        <p14:creationId xmlns:p14="http://schemas.microsoft.com/office/powerpoint/2010/main" val="32958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307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Apple Stock Prediction</vt:lpstr>
      <vt:lpstr>Introduction </vt:lpstr>
      <vt:lpstr>Methodology</vt:lpstr>
      <vt:lpstr>Features used</vt:lpstr>
      <vt:lpstr>EDA</vt:lpstr>
      <vt:lpstr>Sentiment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Almon Bate</dc:creator>
  <cp:lastModifiedBy>Almon Bate</cp:lastModifiedBy>
  <cp:revision>4</cp:revision>
  <dcterms:created xsi:type="dcterms:W3CDTF">2025-12-05T20:45:06Z</dcterms:created>
  <dcterms:modified xsi:type="dcterms:W3CDTF">2025-12-05T21:02:45Z</dcterms:modified>
</cp:coreProperties>
</file>